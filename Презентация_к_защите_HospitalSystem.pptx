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868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8.png"/><Relationship Id="rId4" Type="http://schemas.openxmlformats.org/officeDocument/2006/relationships/image" Target="../media/image5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283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291840" cy="3291840"/>
          </a:xfrm>
          <a:prstGeom prst="ellipse">
            <a:avLst/>
          </a:prstGeom>
          <a:solidFill>
            <a:srgbClr val="26283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ПМ.02  ·  ОСУЩЕСТВЛЕНИЕ ИНТЕГРАЦИИ ПРОГРАММНЫХ МОДУЛЕЙ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HospitalSystem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система учёта пациентов, врачей и записей на приём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КОГБУЗ «Куменская ЦРБ»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19050">
            <a:solidFill>
              <a:srgbClr val="26283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r>
              <a:rPr lang="ru-RU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Корякин Денис Алексеевич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23П-2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09.02.07 Информационные системы и программирование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149840" y="5212080"/>
            <a:ext cx="1188720" cy="1188720"/>
          </a:xfrm>
          <a:prstGeom prst="ellipse">
            <a:avLst/>
          </a:prstGeom>
          <a:solidFill>
            <a:srgbClr val="6C5CE7"/>
          </a:solidFill>
          <a:ln/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5532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Актуальность и цель практики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468880"/>
            <a:ext cx="457200" cy="457200"/>
          </a:xfrm>
          <a:prstGeom prst="ellipse">
            <a:avLst/>
          </a:prstGeom>
          <a:solidFill>
            <a:srgbClr val="FBE4E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5328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45059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Разрозненный, бумажный учёт пациентов, врачей и записей на приём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3310128"/>
            <a:ext cx="457200" cy="457200"/>
          </a:xfrm>
          <a:prstGeom prst="ellipse">
            <a:avLst/>
          </a:prstGeom>
          <a:solidFill>
            <a:srgbClr val="FBE4E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3741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918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разграничения доступа между ролями сотрудников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960120" y="4151376"/>
            <a:ext cx="457200" cy="457200"/>
          </a:xfrm>
          <a:prstGeom prst="ellipse">
            <a:avLst/>
          </a:prstGeom>
          <a:solidFill>
            <a:srgbClr val="FBE4E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215384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13308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контроля пересечения времени приёма у одного врача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960120" y="4992624"/>
            <a:ext cx="457200" cy="457200"/>
          </a:xfrm>
          <a:prstGeom prst="ellipse">
            <a:avLst/>
          </a:prstGeom>
          <a:solidFill>
            <a:srgbClr val="FBE4E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05663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97433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единого журнала действий для разбора инцидентов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355080" y="1691640"/>
            <a:ext cx="5193792" cy="4389120"/>
          </a:xfrm>
          <a:prstGeom prst="roundRect">
            <a:avLst>
              <a:gd name="adj" fmla="val 2500"/>
            </a:avLst>
          </a:prstGeom>
          <a:solidFill>
            <a:srgbClr val="1A1B26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4"/>
          <p:cNvSpPr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6675120" y="2514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автоматизированную информационную систему учёта пациентов, врачей и записей на приём для медицинской организации на платформе WPF (.NET Framework) с использованием Entity Framework (Database First).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675120" y="4343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667512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 БД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275320" y="4343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5" name="Text 19"/>
          <p:cNvSpPr/>
          <p:nvPr/>
        </p:nvSpPr>
        <p:spPr>
          <a:xfrm>
            <a:off x="827532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доступа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875520" y="4343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7" name="Text 21"/>
          <p:cNvSpPr/>
          <p:nvPr/>
        </p:nvSpPr>
        <p:spPr>
          <a:xfrm>
            <a:off x="987552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модулей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практики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13232" y="201168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209489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72491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и проектирование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13232" y="3410712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914400" y="326440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3232" y="4123944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914400" y="397764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и UML Use Case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3232" y="4837176"/>
            <a:ext cx="82296" cy="8229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914400" y="469087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БД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28416" y="173736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3584448" y="201168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658" y="2094890"/>
            <a:ext cx="427939" cy="42793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84448" y="272491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3584448" y="341071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6"/>
          <p:cNvSpPr/>
          <p:nvPr/>
        </p:nvSpPr>
        <p:spPr>
          <a:xfrm>
            <a:off x="3785616" y="326440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Программный модуль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584448" y="412394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8"/>
          <p:cNvSpPr/>
          <p:nvPr/>
        </p:nvSpPr>
        <p:spPr>
          <a:xfrm>
            <a:off x="3785616" y="397764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API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584448" y="483717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0"/>
          <p:cNvSpPr/>
          <p:nvPr/>
        </p:nvSpPr>
        <p:spPr>
          <a:xfrm>
            <a:off x="3785616" y="469087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 и рефакторинг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199632" y="173736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2"/>
          <p:cNvSpPr/>
          <p:nvPr/>
        </p:nvSpPr>
        <p:spPr>
          <a:xfrm>
            <a:off x="6455664" y="2011680"/>
            <a:ext cx="594360" cy="59436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874" y="2094890"/>
            <a:ext cx="427939" cy="42793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55664" y="272491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Тестирование</a:t>
            </a:r>
            <a:endParaRPr lang="en-US" sz="1550" dirty="0"/>
          </a:p>
        </p:txBody>
      </p:sp>
      <p:sp>
        <p:nvSpPr>
          <p:cNvPr id="29" name="Shape 24"/>
          <p:cNvSpPr/>
          <p:nvPr/>
        </p:nvSpPr>
        <p:spPr>
          <a:xfrm>
            <a:off x="6455664" y="3410712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5"/>
          <p:cNvSpPr/>
          <p:nvPr/>
        </p:nvSpPr>
        <p:spPr>
          <a:xfrm>
            <a:off x="6656832" y="326440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тестирование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455664" y="4123944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7"/>
          <p:cNvSpPr/>
          <p:nvPr/>
        </p:nvSpPr>
        <p:spPr>
          <a:xfrm>
            <a:off x="6656832" y="397764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Модульное тестирование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455664" y="4837176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29"/>
          <p:cNvSpPr/>
          <p:nvPr/>
        </p:nvSpPr>
        <p:spPr>
          <a:xfrm>
            <a:off x="6656832" y="469087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интеграции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9070848" y="173736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6" name="Shape 31"/>
          <p:cNvSpPr/>
          <p:nvPr/>
        </p:nvSpPr>
        <p:spPr>
          <a:xfrm>
            <a:off x="9326880" y="201168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090" y="2094890"/>
            <a:ext cx="427939" cy="427939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326880" y="272491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Документирование</a:t>
            </a:r>
            <a:endParaRPr lang="en-US" sz="1550" dirty="0"/>
          </a:p>
        </p:txBody>
      </p:sp>
      <p:sp>
        <p:nvSpPr>
          <p:cNvPr id="39" name="Shape 33"/>
          <p:cNvSpPr/>
          <p:nvPr/>
        </p:nvSpPr>
        <p:spPr>
          <a:xfrm>
            <a:off x="9326880" y="341071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4"/>
          <p:cNvSpPr/>
          <p:nvPr/>
        </p:nvSpPr>
        <p:spPr>
          <a:xfrm>
            <a:off x="9528048" y="326440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версий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9326880" y="412394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36"/>
          <p:cNvSpPr/>
          <p:nvPr/>
        </p:nvSpPr>
        <p:spPr>
          <a:xfrm>
            <a:off x="9528048" y="397764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 оператора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9326880" y="4837176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38"/>
          <p:cNvSpPr/>
          <p:nvPr/>
        </p:nvSpPr>
        <p:spPr>
          <a:xfrm>
            <a:off x="9528048" y="469087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Пояснительная записка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Технологический стек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31520" y="2075688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2155058"/>
            <a:ext cx="408188" cy="408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70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/ .NET Framework 4.8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и платформа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88536" y="17830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562856" y="2075688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226" y="2155058"/>
            <a:ext cx="408188" cy="4081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2856" y="2770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WPF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62856" y="3200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Пользовательский интерфейс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19872" y="17830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8394192" y="2075688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562" y="2155058"/>
            <a:ext cx="408188" cy="4081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2770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Framework 6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94192" y="3200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First, ADO.NET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3968496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6"/>
          <p:cNvSpPr/>
          <p:nvPr/>
        </p:nvSpPr>
        <p:spPr>
          <a:xfrm>
            <a:off x="731520" y="4261104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890" y="4340474"/>
            <a:ext cx="408188" cy="4081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4956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31520" y="538581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данных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88536" y="3968496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0"/>
          <p:cNvSpPr/>
          <p:nvPr/>
        </p:nvSpPr>
        <p:spPr>
          <a:xfrm>
            <a:off x="4562856" y="4261104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2226" y="4340474"/>
            <a:ext cx="408188" cy="4081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2856" y="4956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BCrypt.Net-Next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562856" y="538581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Хеширование паролей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19872" y="3968496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4"/>
          <p:cNvSpPr/>
          <p:nvPr/>
        </p:nvSpPr>
        <p:spPr>
          <a:xfrm>
            <a:off x="8394192" y="4261104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3562" y="4340474"/>
            <a:ext cx="408188" cy="4081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94192" y="4956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Newtonsoft.Json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394192" y="538581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ответов API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приложения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914400" y="1975104"/>
            <a:ext cx="530352" cy="53035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9" y="2049353"/>
            <a:ext cx="381853" cy="3818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114800" y="178308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 приложения: вход, главное меню, учёт пациентов/врачей/записей/специальностей, журналы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834640"/>
            <a:ext cx="109087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914400" y="3026664"/>
            <a:ext cx="530352" cy="530352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9" y="3100913"/>
            <a:ext cx="381853" cy="3818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Helpers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114800" y="283464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· PasswordHelper · NameHelper · DialogHelper · AuditHelper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3886200"/>
            <a:ext cx="109087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914400" y="4078224"/>
            <a:ext cx="530352" cy="53035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649" y="4152473"/>
            <a:ext cx="381853" cy="38185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4114800" y="388620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ApiService — интеграция с внешним программным интерфейсом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4937760"/>
            <a:ext cx="109087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6"/>
          <p:cNvSpPr/>
          <p:nvPr/>
        </p:nvSpPr>
        <p:spPr>
          <a:xfrm>
            <a:off x="914400" y="5129784"/>
            <a:ext cx="530352" cy="530352"/>
          </a:xfrm>
          <a:prstGeom prst="ellipse">
            <a:avLst/>
          </a:prstGeom>
          <a:solidFill>
            <a:srgbClr val="1A1B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649" y="5204033"/>
            <a:ext cx="381853" cy="38185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(EF6)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4114800" y="493776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HospitalDBEntities — Database First, автогенерируемые сущности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Бизнес-логика размещена в обработчиках событий окон (code-behind) — упрощение, приемлемое для приложения данного масштаба.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базы данных — 8 таблиц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1B26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41248" y="19293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313432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PasswordHash, RoleID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38144" y="178308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1B26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639312" y="19293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39312" y="2313432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6208" y="178308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1B26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437376" y="19293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37376" y="2313432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ФИО, дата рождения, пол, адрес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34272" y="178308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1B26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235440" y="19293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2313432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ФИО, специальность, UserID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82112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841248" y="33284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Specialties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" y="3712464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SpecialtyName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38144" y="3182112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3639312" y="33284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39312" y="3712464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Пациент, врач, дата, время, статус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6208" y="3182112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437376" y="33284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ApiLogs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37376" y="3712464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Пользователь, endpoint, статус, ответ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34272" y="3182112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9235440" y="33284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AuditLogs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35440" y="3712464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Пользователь, действие, таблица, дата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7365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Doctors.UserID</a:t>
            </a: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Appointments.PatientID / DoctorID</a:t>
            </a: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обязательные внешние ключи: обеспечивают целостность данных на уровне СУБД.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 пользователей и права доступа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48456" cy="420624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869948" y="2148840"/>
            <a:ext cx="822960" cy="82296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162" y="2264054"/>
            <a:ext cx="592531" cy="5925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154680"/>
            <a:ext cx="3648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Администратор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3008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 ко всем разделам, включая журналы API-запросов и действий пользователей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70248" y="1783080"/>
            <a:ext cx="3648456" cy="420624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5682996" y="214884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210" y="2264054"/>
            <a:ext cx="592531" cy="59253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70248" y="3154680"/>
            <a:ext cx="3648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Регистратор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590288" y="3977640"/>
            <a:ext cx="3008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Пациенты · Записи на приём · Специальности · API — без доступа к разделу «Врачи»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83296" y="1783080"/>
            <a:ext cx="3648456" cy="420624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9496044" y="2148840"/>
            <a:ext cx="822960" cy="82296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1258" y="2264054"/>
            <a:ext cx="592531" cy="59253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83296" y="3154680"/>
            <a:ext cx="3648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Врач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403336" y="3977640"/>
            <a:ext cx="3008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на приём · Специальности · API — без доступа к «Пациентам» и «Врачам»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 меню и дашборд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537960" cy="4206240"/>
          </a:xfrm>
          <a:prstGeom prst="roundRect">
            <a:avLst>
              <a:gd name="adj" fmla="val 2174"/>
            </a:avLst>
          </a:prstGeom>
          <a:solidFill>
            <a:srgbClr val="EDEFF5"/>
          </a:solidFill>
          <a:ln w="12700">
            <a:solidFill>
              <a:srgbClr val="C7CCDC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Главное меню (MainWindow)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43800" y="1783080"/>
            <a:ext cx="4005072" cy="42062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81812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видно на экране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18120" y="2560320"/>
            <a:ext cx="384048" cy="38404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887" y="2614087"/>
            <a:ext cx="276515" cy="27651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251460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Плитки статистики — обновляются автоматически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18120" y="3337560"/>
            <a:ext cx="384048" cy="38404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887" y="3391327"/>
            <a:ext cx="276515" cy="2765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21040" y="32918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5 ближайших записей на приём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18120" y="4114800"/>
            <a:ext cx="384048" cy="38404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1887" y="4168567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40690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к разделу по клику на плитку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818120" y="4892040"/>
            <a:ext cx="384048" cy="38404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1887" y="4945807"/>
            <a:ext cx="276515" cy="27651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21040" y="48463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адаптируется под роль пользователя</a:t>
            </a:r>
            <a:endParaRPr lang="en-US" sz="115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C284EA2-9F71-C4DA-AB02-3A03DBB290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19" y="1783080"/>
            <a:ext cx="6270901" cy="40965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Учёт пациентов, врачей, записей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537960" cy="1965960"/>
          </a:xfrm>
          <a:prstGeom prst="roundRect">
            <a:avLst>
              <a:gd name="adj" fmla="val 4651"/>
            </a:avLst>
          </a:prstGeom>
          <a:solidFill>
            <a:srgbClr val="EDEFF5"/>
          </a:solidFill>
          <a:ln w="12700">
            <a:solidFill>
              <a:srgbClr val="C7CCDC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14400" y="249174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Окно «Пациенты» / «Врачи» / «Записи на приём»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97764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895344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CRUD с проверкой обязательных полей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636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4553712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фильтры без обращения к базе на каждый символ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5230368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529437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212080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занятости врача на выбранное время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543800" y="1783080"/>
            <a:ext cx="4005072" cy="4206240"/>
          </a:xfrm>
          <a:prstGeom prst="roundRect">
            <a:avLst>
              <a:gd name="adj" fmla="val 2740"/>
            </a:avLst>
          </a:prstGeom>
          <a:solidFill>
            <a:srgbClr val="1A1B26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2"/>
          <p:cNvSpPr/>
          <p:nvPr/>
        </p:nvSpPr>
        <p:spPr>
          <a:xfrm>
            <a:off x="7818120" y="2057400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7490" y="2136770"/>
            <a:ext cx="408188" cy="4081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18120" y="2743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Автосоздание учётной записи врача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818120" y="3474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добавлении врача автоматически создаётся логин и временный пароль — оба действия выполняются в единой транзакции базы данных.</a:t>
            </a:r>
            <a:endParaRPr lang="en-US" sz="125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1216599-CB6D-E5B0-A59A-CB4FE6FDD2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53" y="1792538"/>
            <a:ext cx="2504453" cy="19016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69DCAC5-6160-8288-854A-2E971E4834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1076" y="1760219"/>
            <a:ext cx="2327862" cy="19339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958AB5B-893C-41B4-EE02-957715E5C0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8308" y="1837944"/>
            <a:ext cx="2385749" cy="18562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Интеграция с внешним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760720" cy="4206240"/>
          </a:xfrm>
          <a:prstGeom prst="roundRect">
            <a:avLst>
              <a:gd name="adj" fmla="val 2174"/>
            </a:avLst>
          </a:prstGeom>
          <a:solidFill>
            <a:srgbClr val="EDEFF5"/>
          </a:solidFill>
          <a:ln w="12700">
            <a:solidFill>
              <a:srgbClr val="C7CCDC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Окно «API» с результатом запроса курса валют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783080"/>
            <a:ext cx="4690872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13232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Курс ЦБ РФ по запросу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0" y="2697480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207" y="2756367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80960" y="26700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HTTP-запрос к сервису ЦБ РФ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42632" y="3118104"/>
            <a:ext cx="0" cy="256032"/>
          </a:xfrm>
          <a:prstGeom prst="line">
            <a:avLst/>
          </a:prstGeom>
          <a:noFill/>
          <a:ln w="19050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7132320" y="3447288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207" y="3506175"/>
            <a:ext cx="302849" cy="3028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80960" y="34198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JSON (Newtonsoft.Json)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342632" y="3867912"/>
            <a:ext cx="0" cy="256032"/>
          </a:xfrm>
          <a:prstGeom prst="line">
            <a:avLst/>
          </a:prstGeom>
          <a:noFill/>
          <a:ln w="19050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7132320" y="4197096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207" y="4255983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80960" y="4169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Отображение в читаемом виде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342632" y="4617720"/>
            <a:ext cx="0" cy="256032"/>
          </a:xfrm>
          <a:prstGeom prst="line">
            <a:avLst/>
          </a:prstGeom>
          <a:noFill/>
          <a:ln w="19050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6"/>
          <p:cNvSpPr/>
          <p:nvPr/>
        </p:nvSpPr>
        <p:spPr>
          <a:xfrm>
            <a:off x="7132320" y="4946904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1207" y="5005791"/>
            <a:ext cx="302849" cy="30284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0" y="49194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журнал ApiLogs</a:t>
            </a:r>
            <a:endParaRPr lang="en-US" sz="125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291E324-67CC-5FE1-1E75-3A32BB352B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359" y="1722414"/>
            <a:ext cx="5091008" cy="4635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Надёжность и безопасность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48456" cy="420624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214701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88036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Хеширование паролей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474720"/>
            <a:ext cx="30998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(BCrypt.Net-Next) с тихой миграцией от открытого хранения — старые учётные записи не блокируются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70248" y="1783080"/>
            <a:ext cx="3648456" cy="420624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544568" y="205740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179" y="214701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4568" y="288036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Обработка исключений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44568" y="3474720"/>
            <a:ext cx="30998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обработчик ошибок предотвращает аварийное завершение всего приложения из-за сбоя в одном окне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1783080"/>
            <a:ext cx="3648456" cy="420624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8357616" y="2057400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227" y="214701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288036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Журналирование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474720"/>
            <a:ext cx="30998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AuditLogs и ApiLogs фиксируют действия пользователей и обращения к внешнему сервису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независимых вида проверки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8745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262838"/>
          </a:solidFill>
          <a:ln w="9525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95528" y="219456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38" y="22777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926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95528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ручных тестовых случая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" y="4434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всем модулям приложения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5968" y="18745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262838"/>
          </a:solidFill>
          <a:ln w="9525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636008" y="219456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218" y="22777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2926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600" dirty="0"/>
          </a:p>
        </p:txBody>
      </p:sp>
      <p:sp>
        <p:nvSpPr>
          <p:cNvPr id="14" name="Text 10"/>
          <p:cNvSpPr/>
          <p:nvPr/>
        </p:nvSpPr>
        <p:spPr>
          <a:xfrm>
            <a:off x="4636008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сценариев интеграции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36008" y="4434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совместной работы компонентов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56448" y="18745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262838"/>
          </a:solidFill>
          <a:ln w="9525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8476488" y="219456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698" y="227777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0768" y="2926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600" dirty="0"/>
          </a:p>
        </p:txBody>
      </p:sp>
      <p:sp>
        <p:nvSpPr>
          <p:cNvPr id="20" name="Text 15"/>
          <p:cNvSpPr/>
          <p:nvPr/>
        </p:nvSpPr>
        <p:spPr>
          <a:xfrm>
            <a:off x="8476488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модульных тестов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76488" y="4434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MSTest, класс PasswordHelper и NameHelper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Найденные и устранённые дефекты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914400" y="1956816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2033626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8366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Падение при добавлении врача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0" y="1783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заполнялся обязательный внешний ключ UserID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825496"/>
            <a:ext cx="109087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914400" y="2999232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3076042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2608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Падение при добавлении записи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2825496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Некорректный разбор поля времени из текста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867912"/>
            <a:ext cx="109087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914400" y="4041648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4118458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96849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Служебный текст вместо значения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0" y="386791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Выпадающий список показывал имя класса вместо имени врача/специальности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910328"/>
            <a:ext cx="109087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6"/>
          <p:cNvSpPr/>
          <p:nvPr/>
        </p:nvSpPr>
        <p:spPr>
          <a:xfrm>
            <a:off x="914400" y="5084064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5160874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501091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Молчаливое несовпадение данных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4910328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из базы не совпадали с образцами интерфейса при разном регистре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26283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Итоговый результат практики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7" y="1974007"/>
            <a:ext cx="276515" cy="2765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Полнофункциональное WPF-приложение с ролевой моделью доступа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7" y="2659807"/>
            <a:ext cx="276515" cy="2765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60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к ошибочным действиям и сбоям — глобальная обработка исключений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29184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7" y="3345607"/>
            <a:ext cx="276515" cy="2765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Безопасное хранение паролей с миграцией без сброса существующих учёток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7" y="4031407"/>
            <a:ext cx="276515" cy="2765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931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внешним программным интерфейсом и журналирование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22960" y="466344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7" y="4717207"/>
            <a:ext cx="276515" cy="27651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617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тестовых случая тремя независимыми видами тестирования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822960" y="534924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7" y="5403007"/>
            <a:ext cx="276515" cy="27651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17320" y="5303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Комплект документации: отчёт, руководство оператора, протоколы тестирования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26283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5367528" y="1737360"/>
            <a:ext cx="1463040" cy="1463040"/>
          </a:xfrm>
          <a:prstGeom prst="ellipse">
            <a:avLst/>
          </a:prstGeom>
          <a:solidFill>
            <a:srgbClr val="6C5CE7"/>
          </a:solidFill>
          <a:ln/>
          <a:effectLst>
            <a:outerShdw blurRad="127000" dist="38100" dir="5400000" algn="bl" rotWithShape="0">
              <a:srgbClr val="1A1B26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1488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769</Words>
  <Application>Microsoft Office PowerPoint</Application>
  <PresentationFormat>Широкоэкранный</PresentationFormat>
  <Paragraphs>182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практики ПМ.02 — HospitalSystem</dc:title>
  <dc:subject>PptxGenJS Presentation</dc:subject>
  <dc:creator>Денис</dc:creator>
  <cp:lastModifiedBy>Denis Lenram</cp:lastModifiedBy>
  <cp:revision>2</cp:revision>
  <dcterms:created xsi:type="dcterms:W3CDTF">2026-07-08T09:54:10Z</dcterms:created>
  <dcterms:modified xsi:type="dcterms:W3CDTF">2026-07-08T10:09:30Z</dcterms:modified>
</cp:coreProperties>
</file>